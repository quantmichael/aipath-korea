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52450" y="66675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5600" b="1">
                <a:solidFill>
                  <a:srgbClr val="000000"/>
                </a:solidFill>
                <a:latin typeface="Arial"/>
                <a:ea typeface="Malgun Gothic"/>
              </a:rPr>
              <a:t>AI PATH KOREA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90550" y="1752600"/>
            <a:ext cx="5619750" cy="1428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600">
                <a:solidFill>
                  <a:srgbClr val="333333"/>
                </a:solidFill>
                <a:latin typeface="Arial"/>
                <a:ea typeface="Malgun Gothic"/>
              </a:rPr>
              <a:t>AI 웹 개발 과제 발표</a:t>
            </a:r>
          </a:p>
          <a:p>
            <a:pPr algn="l"/>
            <a:r>
              <a:rPr lang="ko-KR" sz="2600">
                <a:solidFill>
                  <a:srgbClr val="333333"/>
                </a:solidFill>
                <a:latin typeface="Arial"/>
                <a:ea typeface="Malgun Gothic"/>
              </a:rPr>
              <a:t>내 아이디어를 현실로 만든 AI 기회 탐색 서비스</a:t>
            </a:r>
          </a:p>
        </p:txBody>
      </p:sp>
      <p:sp>
        <p:nvSpPr>
          <p:cNvPr id="4" name="Rule"/>
          <p:cNvSpPr/>
          <p:nvPr/>
        </p:nvSpPr>
        <p:spPr>
          <a:xfrm>
            <a:off x="590550" y="3524250"/>
            <a:ext cx="3619500" cy="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5" name="Meta"/>
          <p:cNvSpPr txBox="1"/>
          <p:nvPr/>
        </p:nvSpPr>
        <p:spPr>
          <a:xfrm>
            <a:off x="609600" y="3857625"/>
            <a:ext cx="5905500" cy="8572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200">
                <a:solidFill>
                  <a:srgbClr val="555555"/>
                </a:solidFill>
                <a:latin typeface="Arial"/>
                <a:ea typeface="Malgun Gothic"/>
              </a:rPr>
              <a:t>배포 URL: aipath-korea.vercel.app</a:t>
            </a:r>
          </a:p>
          <a:p>
            <a:pPr algn="l"/>
            <a:r>
              <a:rPr lang="ko-KR" sz="2200">
                <a:solidFill>
                  <a:srgbClr val="555555"/>
                </a:solidFill>
                <a:latin typeface="Arial"/>
                <a:ea typeface="Malgun Gothic"/>
              </a:rPr>
              <a:t>GitHub: quantmichael/aipath-korea</a:t>
            </a:r>
          </a:p>
        </p:txBody>
      </p:sp>
      <p:sp>
        <p:nvSpPr>
          <p:cNvPr id="6" name="Panel"/>
          <p:cNvSpPr/>
          <p:nvPr/>
        </p:nvSpPr>
        <p:spPr>
          <a:xfrm>
            <a:off x="6858000" y="781050"/>
            <a:ext cx="4572000" cy="4476750"/>
          </a:xfrm>
          <a:prstGeom prst="rect">
            <a:avLst/>
          </a:prstGeom>
          <a:solidFill>
            <a:srgbClr val="EAF5FB"/>
          </a:solidFill>
          <a:ln w="9525">
            <a:solidFill>
              <a:srgbClr val="B8D6E8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7239000" y="1238250"/>
            <a:ext cx="36195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600" b="1">
                <a:solidFill>
                  <a:srgbClr val="111111"/>
                </a:solidFill>
                <a:latin typeface="Arial"/>
                <a:ea typeface="Malgun Gothic"/>
              </a:rPr>
              <a:t>서비스 핵심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239000" y="1809750"/>
            <a:ext cx="3429000" cy="16192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200">
                <a:solidFill>
                  <a:srgbClr val="111111"/>
                </a:solidFill>
                <a:latin typeface="Arial"/>
                <a:ea typeface="Malgun Gothic"/>
              </a:rPr>
              <a:t>흩어진 국내 AI 교육, 공모전, 해커톤, 밋업 정보를 한곳에서 탐색하고 AI가 조건에 맞는 기회를 추천합니다.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239000" y="3857625"/>
            <a:ext cx="3429000" cy="12382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 b="1">
                <a:solidFill>
                  <a:srgbClr val="1F5F8B"/>
                </a:solidFill>
                <a:latin typeface="Arial"/>
                <a:ea typeface="Malgun Gothic"/>
              </a:rPr>
              <a:t>HTML/CSS/JS</a:t>
            </a:r>
          </a:p>
          <a:p>
            <a:pPr algn="l"/>
            <a:r>
              <a:rPr lang="ko-KR" sz="2000" b="1">
                <a:solidFill>
                  <a:srgbClr val="1F5F8B"/>
                </a:solidFill>
                <a:latin typeface="Arial"/>
                <a:ea typeface="Malgun Gothic"/>
              </a:rPr>
              <a:t>Python API</a:t>
            </a:r>
          </a:p>
          <a:p>
            <a:pPr algn="l"/>
            <a:r>
              <a:rPr lang="ko-KR" sz="2000" b="1">
                <a:solidFill>
                  <a:srgbClr val="1F5F8B"/>
                </a:solidFill>
                <a:latin typeface="Arial"/>
                <a:ea typeface="Malgun Gothic"/>
              </a:rPr>
              <a:t>Supabase + OpenAI</a:t>
            </a:r>
          </a:p>
          <a:p>
            <a:pPr algn="l"/>
            <a:r>
              <a:rPr lang="ko-KR" sz="2000" b="1">
                <a:solidFill>
                  <a:srgbClr val="1F5F8B"/>
                </a:solidFill>
                <a:latin typeface="Arial"/>
                <a:ea typeface="Malgun Gothic"/>
              </a:rPr>
              <a:t>Vercel</a:t>
            </a:r>
          </a:p>
        </p:txBody>
      </p:sp>
      <p:sp>
        <p:nvSpPr>
          <p:cNvPr id="901" name="Slide number"/>
          <p:cNvSpPr txBox="1"/>
          <p:nvPr/>
        </p:nvSpPr>
        <p:spPr>
          <a:xfrm>
            <a:off x="11239500" y="623887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1400">
                <a:solidFill>
                  <a:srgbClr val="666666"/>
                </a:solidFill>
                <a:latin typeface="Arial"/>
                <a:ea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14350" y="428625"/>
            <a:ext cx="93345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4200" b="1">
                <a:solidFill>
                  <a:srgbClr val="111111"/>
                </a:solidFill>
                <a:latin typeface="Arial"/>
                <a:ea typeface="Malgun Gothic"/>
              </a:rPr>
              <a:t>문제는 정보가 흩어져 있다는 점입니다.</a:t>
            </a:r>
          </a:p>
        </p:txBody>
      </p:sp>
      <p:sp>
        <p:nvSpPr>
          <p:cNvPr id="3" name="Rule"/>
          <p:cNvSpPr/>
          <p:nvPr/>
        </p:nvSpPr>
        <p:spPr>
          <a:xfrm>
            <a:off x="533400" y="1181100"/>
            <a:ext cx="4953000" cy="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71500" y="1571625"/>
            <a:ext cx="4762500" cy="16192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>
                <a:solidFill>
                  <a:srgbClr val="111111"/>
                </a:solidFill>
                <a:latin typeface="Arial"/>
                <a:ea typeface="Malgun Gothic"/>
              </a:rPr>
              <a:t>사용자는 여러 기관 사이트를 돌아다니며 마감일, 행사일, 참가 방식, 공식 출처를 직접 비교해야 합니다.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71500" y="3667125"/>
            <a:ext cx="4762500" cy="152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그래서 이 프로젝트는 탐색 시간을 줄이고, 공식 출처 기반으로 신뢰 가능한 선택을 돕는 데 초점을 맞췄습니다.</a:t>
            </a:r>
          </a:p>
        </p:txBody>
      </p:sp>
      <p:sp>
        <p:nvSpPr>
          <p:cNvPr id="6" name="Panel"/>
          <p:cNvSpPr/>
          <p:nvPr/>
        </p:nvSpPr>
        <p:spPr>
          <a:xfrm>
            <a:off x="6286500" y="1428750"/>
            <a:ext cx="4667250" cy="83820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7" name="Panel"/>
          <p:cNvSpPr/>
          <p:nvPr/>
        </p:nvSpPr>
        <p:spPr>
          <a:xfrm>
            <a:off x="6286500" y="2686050"/>
            <a:ext cx="4667250" cy="83820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8" name="Panel"/>
          <p:cNvSpPr/>
          <p:nvPr/>
        </p:nvSpPr>
        <p:spPr>
          <a:xfrm>
            <a:off x="6286500" y="3943350"/>
            <a:ext cx="4667250" cy="83820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6572250" y="1638300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탐색 부담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6572250" y="2895600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일정과 조건을 직접 비교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572250" y="4152900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맞춤 추천 부재</a:t>
            </a:r>
          </a:p>
        </p:txBody>
      </p:sp>
      <p:sp>
        <p:nvSpPr>
          <p:cNvPr id="902" name="Slide number"/>
          <p:cNvSpPr txBox="1"/>
          <p:nvPr/>
        </p:nvSpPr>
        <p:spPr>
          <a:xfrm>
            <a:off x="11239500" y="623887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1400">
                <a:solidFill>
                  <a:srgbClr val="666666"/>
                </a:solidFill>
                <a:latin typeface="Arial"/>
                <a:ea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14350" y="428625"/>
            <a:ext cx="100965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Arial"/>
                <a:ea typeface="Malgun Gothic"/>
              </a:rPr>
              <a:t>서비스는 5개 화면으로 과제 기준을 넘겼습니다.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552450" y="11239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>
                <a:solidFill>
                  <a:srgbClr val="555555"/>
                </a:solidFill>
                <a:latin typeface="Arial"/>
                <a:ea typeface="Malgun Gothic"/>
              </a:rPr>
              <a:t>최소 3개 페이지 요구사항을 홈, 기회 탐색, 상세, AI 추천, 서비스 소개로 확장했습니다.</a:t>
            </a:r>
          </a:p>
        </p:txBody>
      </p:sp>
      <p:sp>
        <p:nvSpPr>
          <p:cNvPr id="4" name="Panel"/>
          <p:cNvSpPr/>
          <p:nvPr/>
        </p:nvSpPr>
        <p:spPr>
          <a:xfrm>
            <a:off x="552450" y="1952625"/>
            <a:ext cx="2038350" cy="23812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5" name="Panel"/>
          <p:cNvSpPr/>
          <p:nvPr/>
        </p:nvSpPr>
        <p:spPr>
          <a:xfrm>
            <a:off x="2819400" y="1952625"/>
            <a:ext cx="2038350" cy="23812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6" name="Panel"/>
          <p:cNvSpPr/>
          <p:nvPr/>
        </p:nvSpPr>
        <p:spPr>
          <a:xfrm>
            <a:off x="5086350" y="1952625"/>
            <a:ext cx="2038350" cy="23812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7" name="Panel"/>
          <p:cNvSpPr/>
          <p:nvPr/>
        </p:nvSpPr>
        <p:spPr>
          <a:xfrm>
            <a:off x="7353300" y="1952625"/>
            <a:ext cx="2038350" cy="23812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8" name="Panel"/>
          <p:cNvSpPr/>
          <p:nvPr/>
        </p:nvSpPr>
        <p:spPr>
          <a:xfrm>
            <a:off x="9620250" y="1952625"/>
            <a:ext cx="2038350" cy="23812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819150" y="2238375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홈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19150" y="2819400"/>
            <a:ext cx="142875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서비스 가치와 주요 기회 유형 안내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3086100" y="2238375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기회 탐색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086100" y="2819400"/>
            <a:ext cx="142875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검색, 카테고리, 상태, 방식, 비용 필터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353050" y="2238375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상세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353050" y="2819400"/>
            <a:ext cx="142875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일정, 장소, 출처, 공식 URL 확인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7620000" y="2238375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AI 추천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620000" y="2819400"/>
            <a:ext cx="142875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사용자 조건 입력 후 추천 결과 출력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9886950" y="2238375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소개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886950" y="2819400"/>
            <a:ext cx="1428750" cy="952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데이터 원칙과 추천 기준 설명</a:t>
            </a:r>
          </a:p>
        </p:txBody>
      </p:sp>
      <p:sp>
        <p:nvSpPr>
          <p:cNvPr id="903" name="Slide number"/>
          <p:cNvSpPr txBox="1"/>
          <p:nvPr/>
        </p:nvSpPr>
        <p:spPr>
          <a:xfrm>
            <a:off x="11239500" y="623887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1400">
                <a:solidFill>
                  <a:srgbClr val="666666"/>
                </a:solidFill>
                <a:latin typeface="Arial"/>
                <a:ea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14350" y="428625"/>
            <a:ext cx="100965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Arial"/>
                <a:ea typeface="Malgun Gothic"/>
              </a:rPr>
              <a:t>사용자 흐름은 탐색과 추천 두 갈래입니다.</a:t>
            </a:r>
          </a:p>
        </p:txBody>
      </p:sp>
      <p:pic>
        <p:nvPicPr>
          <p:cNvPr id="3" name="Desktop home"/>
          <p:cNvPicPr/>
          <p:nvPr/>
        </p:nvPicPr>
        <p:blipFill>
          <a:blip r:embed="rId2"/>
          <a:stretch>
            <a:fillRect/>
          </a:stretch>
        </p:blipFill>
        <p:spPr>
          <a:xfrm>
            <a:off x="552450" y="1488242"/>
            <a:ext cx="4953000" cy="3214765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6096000" y="1428750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3000" b="1">
                <a:solidFill>
                  <a:srgbClr val="111111"/>
                </a:solidFill>
                <a:latin typeface="Arial"/>
                <a:ea typeface="Malgun Gothic"/>
              </a:rPr>
              <a:t>탐색 흐름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0" y="1952625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>
                <a:solidFill>
                  <a:srgbClr val="111111"/>
                </a:solidFill>
                <a:latin typeface="Arial"/>
                <a:ea typeface="Malgun Gothic"/>
              </a:rPr>
              <a:t>홈 → 기회 탐색 → 필터/검색 → 상세 정보 → 공식 페이지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096000" y="3476625"/>
            <a:ext cx="4000500" cy="361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3000" b="1">
                <a:solidFill>
                  <a:srgbClr val="111111"/>
                </a:solidFill>
                <a:latin typeface="Arial"/>
                <a:ea typeface="Malgun Gothic"/>
              </a:rPr>
              <a:t>추천 흐름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096000" y="400050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>
                <a:solidFill>
                  <a:srgbClr val="111111"/>
                </a:solidFill>
                <a:latin typeface="Arial"/>
                <a:ea typeface="Malgun Gothic"/>
              </a:rPr>
              <a:t>AI 추천 → 조건 입력 → DB 후보 비교 → 추천 이유 확인</a:t>
            </a:r>
          </a:p>
        </p:txBody>
      </p:sp>
      <p:sp>
        <p:nvSpPr>
          <p:cNvPr id="904" name="Slide number"/>
          <p:cNvSpPr txBox="1"/>
          <p:nvPr/>
        </p:nvSpPr>
        <p:spPr>
          <a:xfrm>
            <a:off x="11239500" y="623887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1400">
                <a:solidFill>
                  <a:srgbClr val="666666"/>
                </a:solidFill>
                <a:latin typeface="Arial"/>
                <a:ea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14350" y="428625"/>
            <a:ext cx="102870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Arial"/>
                <a:ea typeface="Malgun Gothic"/>
              </a:rPr>
              <a:t>AI 추천은 DB에 있는 실제 기회만 사용합니다.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552450" y="11239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300">
                <a:solidFill>
                  <a:srgbClr val="555555"/>
                </a:solidFill>
                <a:latin typeface="Arial"/>
                <a:ea typeface="Malgun Gothic"/>
              </a:rPr>
              <a:t>사용자 조건을 입력하면 Supabase 후보를 조회하고, OpenAI가 최대 3개의 추천 결과와 이유를 구조화된 응답으로 반환합니다.</a:t>
            </a:r>
          </a:p>
        </p:txBody>
      </p:sp>
      <p:pic>
        <p:nvPicPr>
          <p:cNvPr id="4" name="AI recommend result"/>
          <p:cNvPicPr/>
          <p:nvPr/>
        </p:nvPicPr>
        <p:blipFill>
          <a:blip r:embed="rId2"/>
          <a:stretch>
            <a:fillRect/>
          </a:stretch>
        </p:blipFill>
        <p:spPr>
          <a:xfrm>
            <a:off x="678779" y="1952625"/>
            <a:ext cx="4795593" cy="3143250"/>
          </a:xfrm>
          <a:prstGeom prst="rect">
            <a:avLst/>
          </a:prstGeom>
        </p:spPr>
      </p:pic>
      <p:sp>
        <p:nvSpPr>
          <p:cNvPr id="5" name="Panel"/>
          <p:cNvSpPr/>
          <p:nvPr/>
        </p:nvSpPr>
        <p:spPr>
          <a:xfrm>
            <a:off x="6191250" y="2047875"/>
            <a:ext cx="4286250" cy="5905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6" name="Panel"/>
          <p:cNvSpPr/>
          <p:nvPr/>
        </p:nvSpPr>
        <p:spPr>
          <a:xfrm>
            <a:off x="6191250" y="2952750"/>
            <a:ext cx="4286250" cy="5905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7" name="Panel"/>
          <p:cNvSpPr/>
          <p:nvPr/>
        </p:nvSpPr>
        <p:spPr>
          <a:xfrm>
            <a:off x="6191250" y="3857625"/>
            <a:ext cx="4286250" cy="5905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8" name="Panel"/>
          <p:cNvSpPr/>
          <p:nvPr/>
        </p:nvSpPr>
        <p:spPr>
          <a:xfrm>
            <a:off x="6191250" y="4762500"/>
            <a:ext cx="4286250" cy="5905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6429375" y="2209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900" b="1">
                <a:solidFill>
                  <a:srgbClr val="111111"/>
                </a:solidFill>
                <a:latin typeface="Arial"/>
                <a:ea typeface="Malgun Gothic"/>
              </a:rPr>
              <a:t>1. 입력: 수준, 관심, 목적, 방식, 비용, 기간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6429375" y="3114675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900" b="1">
                <a:solidFill>
                  <a:srgbClr val="111111"/>
                </a:solidFill>
                <a:latin typeface="Arial"/>
                <a:ea typeface="Malgun Gothic"/>
              </a:rPr>
              <a:t>2. 후보 조회: 유효한 기회 최대 30개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429375" y="401955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900" b="1">
                <a:solidFill>
                  <a:srgbClr val="111111"/>
                </a:solidFill>
                <a:latin typeface="Arial"/>
                <a:ea typeface="Malgun Gothic"/>
              </a:rPr>
              <a:t>3. AI 분석: 후보 안에서만 추천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429375" y="4924425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900" b="1">
                <a:solidFill>
                  <a:srgbClr val="111111"/>
                </a:solidFill>
                <a:latin typeface="Arial"/>
                <a:ea typeface="Malgun Gothic"/>
              </a:rPr>
              <a:t>4. 출력: 추천 카드와 이유 표시</a:t>
            </a:r>
          </a:p>
        </p:txBody>
      </p:sp>
      <p:sp>
        <p:nvSpPr>
          <p:cNvPr id="905" name="Slide number"/>
          <p:cNvSpPr txBox="1"/>
          <p:nvPr/>
        </p:nvSpPr>
        <p:spPr>
          <a:xfrm>
            <a:off x="11239500" y="623887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1400">
                <a:solidFill>
                  <a:srgbClr val="666666"/>
                </a:solidFill>
                <a:latin typeface="Arial"/>
                <a:ea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14350" y="428625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3800" b="1">
                <a:solidFill>
                  <a:srgbClr val="111111"/>
                </a:solidFill>
                <a:latin typeface="Arial"/>
                <a:ea typeface="Malgun Gothic"/>
              </a:rPr>
              <a:t>프론트와 백엔드를 분리해 보안과 배포를 단순화했습니다.</a:t>
            </a:r>
          </a:p>
        </p:txBody>
      </p:sp>
      <p:sp>
        <p:nvSpPr>
          <p:cNvPr id="3" name="Panel"/>
          <p:cNvSpPr/>
          <p:nvPr/>
        </p:nvSpPr>
        <p:spPr>
          <a:xfrm>
            <a:off x="666750" y="1809750"/>
            <a:ext cx="2476500" cy="12382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4" name="Panel"/>
          <p:cNvSpPr/>
          <p:nvPr/>
        </p:nvSpPr>
        <p:spPr>
          <a:xfrm>
            <a:off x="3619500" y="1809750"/>
            <a:ext cx="2476500" cy="12382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5" name="Panel"/>
          <p:cNvSpPr/>
          <p:nvPr/>
        </p:nvSpPr>
        <p:spPr>
          <a:xfrm>
            <a:off x="6572250" y="1809750"/>
            <a:ext cx="2476500" cy="12382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6" name="Panel"/>
          <p:cNvSpPr/>
          <p:nvPr/>
        </p:nvSpPr>
        <p:spPr>
          <a:xfrm>
            <a:off x="9525000" y="1809750"/>
            <a:ext cx="1905000" cy="1238250"/>
          </a:xfrm>
          <a:prstGeom prst="rect">
            <a:avLst/>
          </a:prstGeom>
          <a:solidFill>
            <a:srgbClr val="F2F2F2"/>
          </a:solidFill>
          <a:ln w="9525">
            <a:solidFill>
              <a:srgbClr val="D7DCE2"/>
            </a:solidFill>
          </a:ln>
        </p:spPr>
        <p:txBody>
          <a:bodyPr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914400" y="20764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public/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14400" y="2524125"/>
            <a:ext cx="200025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HTML/CSS/JS</a:t>
            </a:r>
          </a:p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화면과 사용자 동작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867150" y="20764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api/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867150" y="2524125"/>
            <a:ext cx="200025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Python FastAPI</a:t>
            </a:r>
          </a:p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Serverless Functions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819900" y="20764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Supabase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819900" y="2524125"/>
            <a:ext cx="200025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기회 데이터</a:t>
            </a:r>
          </a:p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출처와 일정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9772650" y="2076450"/>
            <a:ext cx="14287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OpenAI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9772650" y="2524125"/>
            <a:ext cx="142875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DB 기반</a:t>
            </a:r>
          </a:p>
          <a:p>
            <a:pPr algn="l"/>
            <a:r>
              <a:rPr lang="ko-KR" sz="1800">
                <a:solidFill>
                  <a:srgbClr val="111111"/>
                </a:solidFill>
                <a:latin typeface="Arial"/>
                <a:ea typeface="Malgun Gothic"/>
              </a:rPr>
              <a:t>추천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143000" y="4095750"/>
            <a:ext cx="904875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F5F8B"/>
                </a:solidFill>
                <a:latin typeface="Arial"/>
                <a:ea typeface="Malgun Gothic"/>
              </a:rPr>
              <a:t>API 키는 브라우저에 노출하지 않고 Vercel 환경 변수에서만 관리합니다.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143000" y="4810125"/>
            <a:ext cx="904875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200">
                <a:solidFill>
                  <a:srgbClr val="555555"/>
                </a:solidFill>
                <a:latin typeface="Arial"/>
                <a:ea typeface="Malgun Gothic"/>
              </a:rPr>
              <a:t>정적 프론트는 빠르게 제공하고, API 로직은 서버에서 검증/재배포할 수 있습니다.</a:t>
            </a:r>
          </a:p>
        </p:txBody>
      </p:sp>
      <p:sp>
        <p:nvSpPr>
          <p:cNvPr id="906" name="Slide number"/>
          <p:cNvSpPr txBox="1"/>
          <p:nvPr/>
        </p:nvSpPr>
        <p:spPr>
          <a:xfrm>
            <a:off x="11239500" y="623887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1400">
                <a:solidFill>
                  <a:srgbClr val="666666"/>
                </a:solidFill>
                <a:latin typeface="Arial"/>
                <a:ea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14350" y="428625"/>
            <a:ext cx="100965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Arial"/>
                <a:ea typeface="Malgun Gothic"/>
              </a:rPr>
              <a:t>과제 요구사항은 구현과 문서로 함께 충족했습니다.</a:t>
            </a:r>
          </a:p>
        </p:txBody>
      </p:sp>
      <p:sp>
        <p:nvSpPr>
          <p:cNvPr id="3" name="Panel"/>
          <p:cNvSpPr/>
          <p:nvPr/>
        </p:nvSpPr>
        <p:spPr>
          <a:xfrm>
            <a:off x="571500" y="1428750"/>
            <a:ext cx="11049000" cy="3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857250" y="16764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요구사항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3429000" y="1676400"/>
            <a:ext cx="323850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구현 내용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524750" y="1676400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Arial"/>
                <a:ea typeface="Malgun Gothic"/>
              </a:rPr>
              <a:t>증빙</a:t>
            </a:r>
          </a:p>
        </p:txBody>
      </p:sp>
      <p:sp>
        <p:nvSpPr>
          <p:cNvPr id="7" name="Rule"/>
          <p:cNvSpPr/>
          <p:nvPr/>
        </p:nvSpPr>
        <p:spPr>
          <a:xfrm>
            <a:off x="762000" y="2133600"/>
            <a:ext cx="10477500" cy="0"/>
          </a:xfrm>
          <a:prstGeom prst="rect">
            <a:avLst/>
          </a:prstGeom>
          <a:noFill/>
          <a:ln w="19050">
            <a:solidFill>
              <a:srgbClr val="B8BCC4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857250" y="24003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Arial"/>
                <a:ea typeface="Malgun Gothic"/>
              </a:rPr>
              <a:t>3개 이상 페이지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429000" y="24003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>
                <a:solidFill>
                  <a:srgbClr val="111111"/>
                </a:solidFill>
                <a:latin typeface="Arial"/>
                <a:ea typeface="Malgun Gothic"/>
              </a:rPr>
              <a:t>홈, 탐색, 상세, 추천, 소개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524750" y="24003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>
                <a:solidFill>
                  <a:srgbClr val="111111"/>
                </a:solidFill>
                <a:latin typeface="Arial"/>
                <a:ea typeface="Malgun Gothic"/>
              </a:rPr>
              <a:t>public/*.html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57250" y="29718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Arial"/>
                <a:ea typeface="Malgun Gothic"/>
              </a:rPr>
              <a:t>AI API 연동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429000" y="29718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>
                <a:solidFill>
                  <a:srgbClr val="111111"/>
                </a:solidFill>
                <a:latin typeface="Arial"/>
                <a:ea typeface="Malgun Gothic"/>
              </a:rPr>
              <a:t>OpenAI + Supabase 추천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524750" y="29718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>
                <a:solidFill>
                  <a:srgbClr val="111111"/>
                </a:solidFill>
                <a:latin typeface="Arial"/>
                <a:ea typeface="Malgun Gothic"/>
              </a:rPr>
              <a:t>/api/recommend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57250" y="35433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Arial"/>
                <a:ea typeface="Malgun Gothic"/>
              </a:rPr>
              <a:t>반응형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429000" y="35433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>
                <a:solidFill>
                  <a:srgbClr val="111111"/>
                </a:solidFill>
                <a:latin typeface="Arial"/>
                <a:ea typeface="Malgun Gothic"/>
              </a:rPr>
              <a:t>모바일/데스크톱 CSS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524750" y="35433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>
                <a:solidFill>
                  <a:srgbClr val="111111"/>
                </a:solidFill>
                <a:latin typeface="Arial"/>
                <a:ea typeface="Malgun Gothic"/>
              </a:rPr>
              <a:t>evidence PNG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57250" y="41148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Arial"/>
                <a:ea typeface="Malgun Gothic"/>
              </a:rPr>
              <a:t>배포/문서화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3429000" y="41148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>
                <a:solidFill>
                  <a:srgbClr val="111111"/>
                </a:solidFill>
                <a:latin typeface="Arial"/>
                <a:ea typeface="Malgun Gothic"/>
              </a:rPr>
              <a:t>Vercel, README, 기획서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524750" y="41148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000">
                <a:solidFill>
                  <a:srgbClr val="111111"/>
                </a:solidFill>
                <a:latin typeface="Arial"/>
                <a:ea typeface="Malgun Gothic"/>
              </a:rPr>
              <a:t>docs/</a:t>
            </a:r>
          </a:p>
        </p:txBody>
      </p:sp>
      <p:sp>
        <p:nvSpPr>
          <p:cNvPr id="907" name="Slide number"/>
          <p:cNvSpPr txBox="1"/>
          <p:nvPr/>
        </p:nvSpPr>
        <p:spPr>
          <a:xfrm>
            <a:off x="11239500" y="623887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1400">
                <a:solidFill>
                  <a:srgbClr val="666666"/>
                </a:solidFill>
                <a:latin typeface="Arial"/>
                <a:ea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14350" y="428625"/>
            <a:ext cx="100965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Arial"/>
                <a:ea typeface="Malgun Gothic"/>
              </a:rPr>
              <a:t>배포 이후 운영 관점까지 문서화했습니다.</a:t>
            </a:r>
          </a:p>
        </p:txBody>
      </p:sp>
      <p:pic>
        <p:nvPicPr>
          <p:cNvPr id="3" name="Vercel production"/>
          <p:cNvPicPr/>
          <p:nvPr/>
        </p:nvPicPr>
        <p:blipFill>
          <a:blip r:embed="rId2"/>
          <a:stretch>
            <a:fillRect/>
          </a:stretch>
        </p:blipFill>
        <p:spPr>
          <a:xfrm>
            <a:off x="734950" y="1381125"/>
            <a:ext cx="4626100" cy="295275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6096000" y="1428750"/>
            <a:ext cx="40957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800" b="1">
                <a:solidFill>
                  <a:srgbClr val="111111"/>
                </a:solidFill>
                <a:latin typeface="Arial"/>
                <a:ea typeface="Malgun Gothic"/>
              </a:rPr>
              <a:t>문제 진단 순서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096000" y="1952625"/>
            <a:ext cx="4762500" cy="12382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200">
                <a:solidFill>
                  <a:srgbClr val="111111"/>
                </a:solidFill>
                <a:latin typeface="Arial"/>
                <a:ea typeface="Malgun Gothic"/>
              </a:rPr>
              <a:t>Vercel Deployments → Build/Runtime Logs → 브라우저 Console/Network → 환경 변수 확인 → 수정 후 재배포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096000" y="3619500"/>
            <a:ext cx="40957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800" b="1">
                <a:solidFill>
                  <a:srgbClr val="111111"/>
                </a:solidFill>
                <a:latin typeface="Arial"/>
                <a:ea typeface="Malgun Gothic"/>
              </a:rPr>
              <a:t>지연 개선 전략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096000" y="4143375"/>
            <a:ext cx="4762500" cy="12382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200">
                <a:solidFill>
                  <a:srgbClr val="111111"/>
                </a:solidFill>
                <a:latin typeface="Arial"/>
                <a:ea typeface="Malgun Gothic"/>
              </a:rPr>
              <a:t>로딩 표시, 후보 30개 제한, 구조화 응답, 캐시, 모델 대체, 요약/페이징 전략을 README에 정리했습니다.</a:t>
            </a:r>
          </a:p>
        </p:txBody>
      </p:sp>
      <p:sp>
        <p:nvSpPr>
          <p:cNvPr id="908" name="Slide number"/>
          <p:cNvSpPr txBox="1"/>
          <p:nvPr/>
        </p:nvSpPr>
        <p:spPr>
          <a:xfrm>
            <a:off x="11239500" y="623887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1400">
                <a:solidFill>
                  <a:srgbClr val="666666"/>
                </a:solidFill>
                <a:latin typeface="Arial"/>
                <a:ea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14350" y="428625"/>
            <a:ext cx="102870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3800" b="1">
                <a:solidFill>
                  <a:srgbClr val="111111"/>
                </a:solidFill>
                <a:latin typeface="Arial"/>
                <a:ea typeface="Malgun Gothic"/>
              </a:rPr>
              <a:t>제출 패키지는 구현물, 문서, 증빙을 한 세트로 정리했습니다.</a:t>
            </a:r>
          </a:p>
        </p:txBody>
      </p:sp>
      <p:pic>
        <p:nvPicPr>
          <p:cNvPr id="3" name="Mobile recommend"/>
          <p:cNvPicPr/>
          <p:nvPr/>
        </p:nvPicPr>
        <p:blipFill>
          <a:blip r:embed="rId2"/>
          <a:stretch>
            <a:fillRect/>
          </a:stretch>
        </p:blipFill>
        <p:spPr>
          <a:xfrm>
            <a:off x="1005104" y="1381125"/>
            <a:ext cx="2018867" cy="400050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4095750" y="1428750"/>
            <a:ext cx="438150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3000" b="1">
                <a:solidFill>
                  <a:srgbClr val="111111"/>
                </a:solidFill>
                <a:latin typeface="Arial"/>
                <a:ea typeface="Malgun Gothic"/>
              </a:rPr>
              <a:t>최종 제출 구성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095750" y="2047875"/>
            <a:ext cx="5810250" cy="2190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300">
                <a:solidFill>
                  <a:srgbClr val="111111"/>
                </a:solidFill>
                <a:latin typeface="Arial"/>
                <a:ea typeface="Malgun Gothic"/>
              </a:rPr>
              <a:t>1. 배포 URL</a:t>
            </a:r>
          </a:p>
          <a:p>
            <a:pPr algn="l"/>
            <a:r>
              <a:rPr lang="ko-KR" sz="2300">
                <a:solidFill>
                  <a:srgbClr val="111111"/>
                </a:solidFill>
                <a:latin typeface="Arial"/>
                <a:ea typeface="Malgun Gothic"/>
              </a:rPr>
              <a:t>2. GitHub 저장소와 커밋 이력</a:t>
            </a:r>
          </a:p>
          <a:p>
            <a:pPr algn="l"/>
            <a:r>
              <a:rPr lang="ko-KR" sz="2300">
                <a:solidFill>
                  <a:srgbClr val="111111"/>
                </a:solidFill>
                <a:latin typeface="Arial"/>
                <a:ea typeface="Malgun Gothic"/>
              </a:rPr>
              <a:t>3. README</a:t>
            </a:r>
          </a:p>
          <a:p>
            <a:pPr algn="l"/>
            <a:r>
              <a:rPr lang="ko-KR" sz="2300">
                <a:solidFill>
                  <a:srgbClr val="111111"/>
                </a:solidFill>
                <a:latin typeface="Arial"/>
                <a:ea typeface="Malgun Gothic"/>
              </a:rPr>
              <a:t>4. 서비스 기획서</a:t>
            </a:r>
          </a:p>
          <a:p>
            <a:pPr algn="l"/>
            <a:r>
              <a:rPr lang="ko-KR" sz="2300">
                <a:solidFill>
                  <a:srgbClr val="111111"/>
                </a:solidFill>
                <a:latin typeface="Arial"/>
                <a:ea typeface="Malgun Gothic"/>
              </a:rPr>
              <a:t>5. 데스크톱/모바일/AI 기능/AI 코딩 도구 증빙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095750" y="476250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3000" b="1">
                <a:solidFill>
                  <a:srgbClr val="111111"/>
                </a:solidFill>
                <a:latin typeface="Arial"/>
                <a:ea typeface="Malgun Gothic"/>
              </a:rPr>
              <a:t>다음 단계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095750" y="5286375"/>
            <a:ext cx="619125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ko-KR" sz="2200">
                <a:solidFill>
                  <a:srgbClr val="555555"/>
                </a:solidFill>
                <a:latin typeface="Arial"/>
                <a:ea typeface="Malgun Gothic"/>
              </a:rPr>
              <a:t>커스텀 도메인 안정화 후 실제 운영 데이터 확장과 추천 품질 개선을 이어갑니다.</a:t>
            </a:r>
          </a:p>
        </p:txBody>
      </p:sp>
      <p:sp>
        <p:nvSpPr>
          <p:cNvPr id="909" name="Slide number"/>
          <p:cNvSpPr txBox="1"/>
          <p:nvPr/>
        </p:nvSpPr>
        <p:spPr>
          <a:xfrm>
            <a:off x="11239500" y="623887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ko-KR" sz="1400">
                <a:solidFill>
                  <a:srgbClr val="666666"/>
                </a:solidFill>
                <a:latin typeface="Arial"/>
                <a:ea typeface="Malgun Gothi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PATH KOREA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2F2F2"/>
      </a:lt2>
      <a:accent1>
        <a:srgbClr val="3D8DFF"/>
      </a:accent1>
      <a:accent2>
        <a:srgbClr val="6DCBF4"/>
      </a:accent2>
      <a:accent3>
        <a:srgbClr val="1F5F8B"/>
      </a:accent3>
      <a:accent4>
        <a:srgbClr val="94A3B8"/>
      </a:accent4>
      <a:accent5>
        <a:srgbClr val="0F172A"/>
      </a:accent5>
      <a:accent6>
        <a:srgbClr val="D0EDFA"/>
      </a:accent6>
      <a:hlink>
        <a:srgbClr val="3D8DFF"/>
      </a:hlink>
      <a:folHlink>
        <a:srgbClr val="3D8DFF"/>
      </a:folHlink>
    </a:clrScheme>
    <a:fontScheme name="Office">
      <a:majorFont>
        <a:latin typeface="Arial"/>
        <a:ea typeface="Malgun Gothic"/>
      </a:majorFont>
      <a:minorFont>
        <a:latin typeface="Arial"/>
        <a:ea typeface="Malgun Gothi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PATH KOREA Assignment Presentation</dc:title>
  <dc:creator>AI PATH KOREA</dc:creator>
  <cp:lastModifiedBy>Codex</cp:lastModifiedBy>
</cp:coreProperties>
</file>